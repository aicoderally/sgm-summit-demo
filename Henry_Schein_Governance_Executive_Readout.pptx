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4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410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38CC463-2537-4A45-9CEE-30D91EDA94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" t="5625" r="5881" b="625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ABF2A9-0AD0-2A3D-1BD1-DF76248030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7824" y="4309073"/>
            <a:ext cx="4648200" cy="1447800"/>
          </a:xfrm>
        </p:spPr>
        <p:txBody>
          <a:bodyPr>
            <a:normAutofit/>
          </a:bodyPr>
          <a:lstStyle>
            <a:lvl1pPr marL="0" indent="0">
              <a:buNone/>
              <a:defRPr sz="2700">
                <a:solidFill>
                  <a:schemeClr val="bg1"/>
                </a:solidFill>
                <a:latin typeface="Proxima Nova Thin" panose="02000506030000020004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F132E-1748-569B-D111-9B2B0BFE52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7824" y="2805114"/>
            <a:ext cx="4648200" cy="1247775"/>
          </a:xfrm>
        </p:spPr>
        <p:txBody>
          <a:bodyPr>
            <a:normAutofit/>
          </a:bodyPr>
          <a:lstStyle>
            <a:lvl1pPr marL="0" indent="0">
              <a:buNone/>
              <a:defRPr sz="4500">
                <a:solidFill>
                  <a:schemeClr val="bg1"/>
                </a:solidFill>
                <a:latin typeface="Proxima Nova Bl" panose="02000506030000020004" pitchFamily="50" charset="0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AE966D-F82A-6087-C8F9-60FB7EA60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755849"/>
            <a:ext cx="3201807" cy="8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790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8" imgH="499" progId="TCLayout.ActiveDocument.1">
                  <p:embed/>
                </p:oleObj>
              </mc:Choice>
              <mc:Fallback>
                <p:oleObj name="think-cell Slide" r:id="rId3" imgW="498" imgH="499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940B40E-9364-51C0-5BF0-D51E4E6823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560" y="870182"/>
            <a:ext cx="11648880" cy="511578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D557A1-BF55-FF2B-B2A8-8D4EEBCF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908D8-9EFA-BB30-DF8D-302ECF78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136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98" imgH="499" progId="TCLayout.ActiveDocument.1">
                  <p:embed/>
                </p:oleObj>
              </mc:Choice>
              <mc:Fallback>
                <p:oleObj name="think-cell Slide" r:id="rId3" imgW="498" imgH="499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E6D557A1-BF55-FF2B-B2A8-8D4EEBCF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908D8-9EFA-BB30-DF8D-302ECF78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3538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6E47-AA25-BC42-99D3-FF1D67F9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61" y="1360963"/>
            <a:ext cx="11648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EE5DD8FF-C61B-AB4B-AFA0-C94CF4F4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F46FD-550B-922E-3039-9BEC8C9F1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A77FEC8-B124-AD1D-A721-97D0EF90CE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1560" y="870182"/>
            <a:ext cx="11648880" cy="331357"/>
          </a:xfrm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49766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86E47-AA25-BC42-99D3-FF1D67F99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61" y="1360963"/>
            <a:ext cx="116488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EE5DD8FF-C61B-AB4B-AFA0-C94CF4F44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F46FD-550B-922E-3039-9BEC8C9F1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900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3081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93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3B9-ACCA-DD40-BA0E-66A334E1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" y="233691"/>
            <a:ext cx="12191999" cy="762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8EE14-1CA6-3D4E-BAA9-C98F7DF4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562" y="1360963"/>
            <a:ext cx="119204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Chart, funnel chart&#10;&#10;Description automatically generated">
            <a:extLst>
              <a:ext uri="{FF2B5EF4-FFF2-40B4-BE49-F238E27FC236}">
                <a16:creationId xmlns:a16="http://schemas.microsoft.com/office/drawing/2014/main" id="{C399A96F-7C32-6441-8EB3-863461DC858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91323" t="4706" r="2239" b="85882"/>
          <a:stretch/>
        </p:blipFill>
        <p:spPr>
          <a:xfrm>
            <a:off x="10980201" y="157967"/>
            <a:ext cx="1111908" cy="914400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D30C02A-1983-8C4C-E70F-CE741032B3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290" y="6366102"/>
            <a:ext cx="1021151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10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8" r:id="rId7"/>
  </p:sldLayoutIdLst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hf sldNum="0" hdr="0" ftr="0" dt="0"/>
  <p:txStyles>
    <p:titleStyle>
      <a:lvl1pPr marL="128588" indent="-38100" algn="ctr" defTabSz="685800" rtl="0" eaLnBrk="1" latinLnBrk="0" hangingPunct="1">
        <a:lnSpc>
          <a:spcPct val="90000"/>
        </a:lnSpc>
        <a:spcBef>
          <a:spcPct val="0"/>
        </a:spcBef>
        <a:buNone/>
        <a:tabLst/>
        <a:defRPr sz="4400" b="1" i="0" kern="1200">
          <a:solidFill>
            <a:schemeClr val="tx1"/>
          </a:solidFill>
          <a:latin typeface="Proxima Nova Extrabold" panose="02000506030000020004" pitchFamily="2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Proxima Nova Thin" panose="02000506030000020004" pitchFamily="2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roxima Nova Thin" panose="02000506030000020004" pitchFamily="2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Proxima Nova Thin" panose="02000506030000020004" pitchFamily="2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Proxima Nova Thin" panose="02000506030000020004" pitchFamily="2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Proxima Nova Thin" panose="02000506030000020004" pitchFamily="2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926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5669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Prepared by: Blue Horizons Group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Date: December 2024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Classification: Client 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EF572B-2332-A4DB-E2ED-1AB62AE240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7824" y="4309073"/>
            <a:ext cx="5535676" cy="1447800"/>
          </a:xfrm>
        </p:spPr>
        <p:txBody>
          <a:bodyPr/>
          <a:lstStyle/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</a:rPr>
              <a:t>Executive Readout with Confidence &amp; Liability Scoring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76D38-7AB0-A818-A974-C77C0ECBD0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4" y="2805114"/>
            <a:ext cx="5408676" cy="12477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Henry Schein Sales Comp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Governance Assessment Overview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1371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Liability 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Current State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200+ plans, minimal governance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(95%)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Financial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$1.25M-$1.75M annual 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Operational Gaps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 CRB, no exception process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(92%)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Compliance 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DOL, State wage laws exposed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2372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Key Message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4630420"/>
            <a:ext cx="1097280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474014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11111"/>
                </a:solidFill>
              </a:rPr>
              <a:t>Without governance controls, Henry Schein faces significant financial, legal, and operational exposure that could result in overpayments, litigation, and regulatory penalties.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1333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Note: Risk exposures are potential outcomes based on governance gaps, not confirmed incidents.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Confidence Scoring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How We Scored Each Finding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15544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 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Score Range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92-100%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Validated against source documents, plan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80-91%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Supported by multiple data points, industry benchmarks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60-79%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Based on projections, estimates, or partial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&lt;60%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Assumptions requiring further validation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624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Source Validation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94% of findings trace directly to: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Actual Henry Schein plan documents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BHG governance analysis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Industry benchmark data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Projections Flagged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6908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All ROI calculations marked as PROJECTED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0109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Financial savings marked as ESTIMATED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3309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Industry comparisons attributed to BHG benchmarks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Liability Risk Matrix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Risk Categories &amp; Exposure Levels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Without Governance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With Governance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Delta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Windfall Overpayments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-80%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State Wage Violations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-75%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Discrimination Claims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-50%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Audit Defensibility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-90%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Disputes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-75%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40080" y="282549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Liability Scoring Key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18688"/>
          <a:ext cx="10972800" cy="1371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Financial Impact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Immediate exposure, regulatory action possible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&gt;$500K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Significant risk, likely litigation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$100K-$500K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Manageable risk with controls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$25K-$100K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Minimal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&lt;$25K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Validated Findings (HIGH CONFIDENCE)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What We KNOW (92%+ Confidence)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Governance Gaps - VALIDATED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 Compensation Review Board (CRB)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 formal exception process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document review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Weak windfall controls ("&gt;$1M at discretion")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documents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 quota management standards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Missing territory management policy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640080" y="3218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Plan-Specific Findings - VALIDATED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Tiered commission (3%, 6%, 10%)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2025 Dental FSC Plan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$80 freight flat rate adjustment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documents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7-day leave of absence rule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documents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30-day dispute period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documents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DocuSign acknowledgments in use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Current practice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Risk Scores by Division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Compensation Plan Risk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Medical Division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Plans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47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(90%)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Average Risk 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67/100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Plans &gt;70 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7 (15%)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Annual Spend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$285M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Participants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1,250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18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Dental Division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Plans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(90%)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Average Risk 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52/100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Plans &gt;70 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 (3%)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Annual Spend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$115M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Participants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0383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Key Insight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5431536"/>
            <a:ext cx="1097280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22960" y="5541264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11111"/>
                </a:solidFill>
              </a:rPr>
              <a:t>Medical division carries 28% higher risk than Dental due to weaker windfall controls and higher complexity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Financial Projections (MEDIUM CONFIDENCE)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PROJECTED Financial Impact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DISCLAIMER: These are ESTIMATES based on governance gap analysis and industry benchmarks. Actual results will vary.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Without Governance - Annual Exposure (PROJECTED)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85416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Estimated Cost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Overpayments (no windfall controls)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$500K-$1M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Dispute resolution costs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$300K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Potential litigation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$250K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 (50%)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Administrative overhead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$1.25M-$1.75M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3611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With Governance - Projected Savings (ESTIMATED)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05072"/>
          <a:ext cx="109728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Projected Savings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Reduced disputes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$300K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(80%)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Controlled windfalls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$500K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(70%)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Lower legal costs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$250K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Efficiency gains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$200K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(55%)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Total Savings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~$1.25M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Industry Benchmarks (ATTRIBUTED)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How Henry Schein Compares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Source: BHG consulting experience with medical device/distribution companies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1645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Henry Schein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Industry Best Practice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Plans per Admin FTE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200:1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50:1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-75%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Exception SLA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~30 days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5 days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-83%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Dispute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~8%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-75%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Formal CRB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Windfall Policy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Comprehensive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18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Benchmark Caveat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1097280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72160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11111"/>
                </a:solidFill>
              </a:rPr>
              <a:t>Industry benchmarks are composite data from similar-sized organizations. Individual company results vary based on business model, sales structure, and organizational maturity.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Liability Exposure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What COULD Happen Without Governance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Critical Exposure Areas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Probability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Impact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Windfall Payout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Large deal without cap, rep earns $500K+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$500K+ single event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State Wage Claim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 rep files complaint for late commission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$50K-$200K + penalties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Discrimination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Inconsistent exception treatment by region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$100K-$500K settlement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Audit Failure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document decision rationale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Restatement + legal fees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Class 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Pattern of unfair quota adjustments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$1M+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186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Important Note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1097280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721608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11111"/>
                </a:solidFill>
              </a:rPr>
              <a:t>These scenarios represent potential outcomes if governance gaps persist. They are not assertions that incidents have occurred.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Deliverables in This Package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What's Included (VALIDATED)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01_FRAMEWORK_DOCUMENTS (7 documents)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9222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CRB Charter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122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Governance Committee Charter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3230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Segregation of Duties Matrix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75234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Standard Taxonomy Dictionary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07238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Access Controls Framework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Stakeholder Communication Framework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Plan Document Template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03250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02_POLICIES (12 policies + 6 drafts)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425696"/>
            <a:ext cx="109728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Finalized: Sales Crediting, Termination, Payment Timing, Mid-Period Change, LOA, Draws &amp; Guarantees, Data Retention, Cap &amp; Threshold, Standard Terms, Version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950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Draft for Review: Clawback, Quota Management, 409A Compliance, SPIF Governance, State Wage Law, Windfall/Large Deal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88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03_PROCEDURES (10 procedures)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681472"/>
            <a:ext cx="109728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Dispute Resolution, Exception Request, New Hire Onboarding, Quota Setting, Territory Change, Transfer/Promotion, Reconciliation, Calculation Documentation, Crediting Rules, Pre-Payment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Deliverables in This Package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04_TEMPLATES (12 templates)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Plan Summary, CRB Agenda, Meeting Minutes, Decision Log, Submission Form, Announcement, FAQ, Access Request, New Plan Checklist, Sunset Checklist, Quarterly Review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Implementation Recommendation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Phased Approach with Risk Prioritization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Phase 1: Foundation (Months 1-3) - CRITICAL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Mitigated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Priority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Form CRB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Decision governance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IMMEDIATE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Deploy Exception Process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Consistency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IMMEDIATE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Implement Windfall Policy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Overpayment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WEEK 2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Document Decision Rights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Audit trail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MONTH 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017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Phase 2: Policy Deployment (Months 4-6) - HIGH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4107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Roll out all finalized policies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7307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Manager training program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0507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Pilot with 5-10 plans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Phase 3: Scale (Months 7-12) - MEDIUM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76402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Expand to 100+ plans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0840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Automate workflows</a:t>
            </a:r>
            <a:endParaRPr lang="en-US" sz="1400" dirty="0"/>
          </a:p>
        </p:txBody>
      </p:sp>
      <p:sp>
        <p:nvSpPr>
          <p:cNvPr id="7" name="Text 12"/>
          <p:cNvSpPr/>
          <p:nvPr/>
        </p:nvSpPr>
        <p:spPr>
          <a:xfrm>
            <a:off x="868680" y="540410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Global expansion prep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Investment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Cost-Benefit Analysis (PROJECTED)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Investment Required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2224"/>
          <a:ext cx="10972800" cy="85953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One-Time Costs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$250,000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Implementation, training, legal review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Annual Ongoing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$190,000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Staff, systems, maintenance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Year 1 Total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$440,000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8163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Projected Returns (ESTIMATED)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9544"/>
          <a:ext cx="10972800" cy="85953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Expected Annual Savings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$1.25M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Projected Year 1 ROI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2.8x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 (60%)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Reduction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40-60%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 (75%)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233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ROI Caveat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4626864"/>
            <a:ext cx="10972800" cy="411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822960" y="4736592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11111"/>
                </a:solidFill>
              </a:rPr>
              <a:t>ROI projections are estimates. Actual returns depend on implementation quality, organizational adoption, and market conditions.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Required Actions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Decisions for Executive Team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Approve: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9222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Governance Framework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1122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CRB 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43230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Budget ($440K Year 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Assign: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Executive Sponsor (CSO recommended)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6557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CRB Chair (VP Sales)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7856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Project Lead (Sales Ops)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056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Timeline Selection: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Aggressive: 6 months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188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Standard: 12 months (RECOMMENDED)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[ ] Conservative: 18 months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Confidence &amp; Liability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Overall Assessment Scores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Dimension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Rating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Source Grounding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Internal Consistency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96%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VERY 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Financial Projections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65%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Assessment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85%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624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What This Means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High confidence in governance gap identification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Medium confidence in financial projections (estimates)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6576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High confidence in risk exposure categories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All findings traceable to source documents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Recommended Disclosures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46908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Financial savings are projected estimates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0109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Industry benchmarks based on BHG consulting data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3309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Risk scenarios are potential, not confirmed incidents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6509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 APPENDIX A: Source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Confidence &amp; Liability Summary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Validation Traceability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12618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Document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Source File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Match 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Executive Presentation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EXECUTIVE_PRESENTATION.md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Executive Summary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EXECUTIVE_SUMMARY.md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GAP_ANALYSIS_CURRENT_STATE.md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98%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Analysis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COMP_PLAN_RISK_ANALYSIS.md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Compliance Checklist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COMPLIANCE_AUDIT_CHECKLIST.md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282549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External Data Sources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2186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Henry Schein plan documents (2025 plans)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5387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BHG consulting analysis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8587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Industry benchmark database (BHG proprietary)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1788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Regulatory guidance (DOL, IRS, state wage laws)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498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 APPENDIX B: Glossary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Confidence &amp; Liability Summary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1664208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Term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CRB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Compensation Review Board - governance body for decisions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Windfall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Unexpectedly large commission from single transaction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Exception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Deviation from standard plan terms requiring approval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FIRR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Italian termination indemnity fund for agents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TFR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Italian employee severance (Trattamento di Fine Rapporto)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FLSA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Fair Labor Standards Act (US federal wage law)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0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409A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IRS section governing deferred compensation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834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Document Version: 1.0 Last Updated: December 2024 Next Review: Upon executive approval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2278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Questions? Contact Blue Horizons Group project team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International Addendum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EXECUTIVE SUMMARY: International Governance Risks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Henry Schein operates in 22 countries with sales compensation programs. Each jurisdiction has unique legal, regulatory, and cultural requirements that create governance complexity beyond US-based controls.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684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Countries Analyzed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61616"/>
          <a:ext cx="10972800" cy="1261872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Countries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North America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United States, Canada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Europe (EU/EEA)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Italy, United Kingdom, France, Netherlands, Germany, Switzerland, Spain, Austria, Sweden, Ireland, Belgium, Poland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Asia-Pacific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China, Singapore, Hong Kong, Australia, New Zealand, Thailand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Latin America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Brazil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Africa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South Africa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INTERNATIONAL RISK HEAT MAP (1/2)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Overall Governance Risk by Country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243230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Risk Level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Key Concern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Brazil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Commission = salary, cannot reduce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Italy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Agent indemnity (FIRR/Enasarco)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France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45-50% social charges on variable pay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Germany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Works Council (Betriebsrat) approval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China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Anti-bribery, social security registration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Spain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Commission integration in severance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Australia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Fair Work Act 2024 changes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United Kingdom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IR35 off-payroll rules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Netherlands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CAO collective agreement compliance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Belgium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Complex social security system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Hong Kong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MPF offset abolition (May 2025)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71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Singapore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CPF contribution requirements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INTERNATIONAL RISK HEAT MAP (2/2)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20665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Key Concern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Confidence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Canada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Provincial variations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Switzerland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Canton-level variations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Austria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Similar to Germany governance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Sweden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Strong union framework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Ireland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GDPR data privacy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Poland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Emerging requirements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New Zealand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Similar to Australia framework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Thailand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Basic compliance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6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South Africa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Basic Employment Equity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CRITICAL RISK COUNTRIES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ITALY - Risk Level: CRITICAL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Sales agent termination indemnities are legally mandated and complex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Article 1751 Italian Civil Code - Agent termination indemnity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National Economic Collective Agreements (AEC) - Industry standards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Enasarco Registration - Mandatory for all sales agents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FIRR Indemnity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Mandatory termination fund contribution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1-4% of commissions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Client Indemnity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Due if agent brought new business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Up to 1 year's commission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Merit Indemnity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Based on customer growth achieved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Enasarco Penalties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Failure to register agents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Fines + back contributions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1572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5504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Agent terminated without proper indemnity calculation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8704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Enasarco contributions not properly tracked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61904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Indemnity underpayment leads to labor tribunal claim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2-3 years' commission per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Track all agent commission history for indemnity calculation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Enasarco registration and contribution compliance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customer attribution for merit indemnity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Use AEC-compliant termination procedures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Distribution Law Center, Legalmondo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924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FRANCE - Risk Level: HIGH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7856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Variable compensation subject to 45-50% employer social charges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78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URSSAF - Social security collection agency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Code du Travail - Labor code requirements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SMIC - Minimum wage 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532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Social Charges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45-50% employer contribution on all variable pay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Major cost impact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Integration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Commissions become part of severance calculation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Inflated termination costs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Contract Documentation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Variable pay must be documented in contract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Enforceability issues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Pay Equity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Equal pay audits increasingly common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Discrimination claims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2311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6243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Commissions not properly declared to URSSAF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Social charge audit reveals underpayment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644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Variable pay structure challenged as illegal wage reduction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5844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Back social charges + 40% penalties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9044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commission structure in employment contracts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6177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Calculate full social charge cost when designing plans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profit-sharing schemes for tax efficiency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2578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compliance with collective bargaining agreements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Eurojob Consulting, URSSAF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GERMANY - Risk Level: 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Works Council (Betriebsrat) co-determination on compensation changes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854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Works Constitution Act (BetrVG) - Co-determination rights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Section 87 BetrVG - Compensation matters require Works Council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Kurzarbeit - Short-time work rules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38728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Works Council Approval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Variable pay changes need Betriebsrat consent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changes blocked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Co-determination Rights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unilaterally change commission structure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Negotiations 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Stock/Equity Plans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Subject to Works Council review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Implementation delays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Kurzarbeit Integration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treatment during short-time 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Complex calculations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7640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51572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 plan change implemented without Works Council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4772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Works Council files complaint with labor court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7972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Plan changes reversed, back pay required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61173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Plan invalidation + back pay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3990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Engage Works Council early on any compensation changes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co-determination consultation process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Build Works Council review into plan design timeline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Separate executive compensation (not subject to Works Council)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Payroll Germany, Lexology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723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HIGH RISK COUNTRIES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UNITED KINGDOM - Risk Level: 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8587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IR35 off-payroll working rules for contractors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645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IR35 (Finance Act 2000) - Disguised employment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9651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Off-Payroll Working Rules (2021) - Client determination responsibility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2852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HMRC CEST Tool - Status determination tool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6052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85953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IR35 Misclassification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Commission-only "contractors" may be employees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Tax + NI back payment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Status Determination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Medium/large companies must determine status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Liability shift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PSC Arrangements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Personal service companies under scrutiny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Reclassification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0299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Sales agent classified as contractor actually "inside IR35"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HMRC audit determines employment status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Employer liable for unpaid PAYE and NI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3832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Back taxes + 25% income reduction for workers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0965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all commission-only arrangements against IR35 tests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4165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Use CEST tool for status determinations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control, substitution, and mutuality factors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0566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employment for sales roles with ongoing obligations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3766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GOV.UK IR35 Guidance, ContractorUK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SPAIN - Risk Level: HIGH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Commission integration into severance calculations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Key Risks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854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Commissions may become part of base for severance calculation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Variable pay considered "salary" for most purposes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Collective bargaining agreements may mandate commission structures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Strong worker protections make plan changes difficult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8587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commission treatment in applicable collective agreements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1788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commission as truly variable (not guaranteed)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impact on severance liability when designing plans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18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NETHERLANDS - Risk Level: MEDIUM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Collective Labour Agreement (CAO) compliance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6052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59984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CAO (Collectieve Arbeidsovereenkomst) - Sector agreements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Universal Binding - Some CAOs apply to entire industry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72800" cy="85953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CAO Compliance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Industry CAO may dictate commission terms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Non-compliance fines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Universal Binding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Even non-union companies must comply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Mandatory application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Pension Integration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treatment in pension calculations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Under-contribution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1363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Determine applicable CAO for sales employees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4564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commission plans don't violate CAO minimums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7764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pension integration requirements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40965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Business.gov.nl, Government.nl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448970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BELGIUM, AUSTRIA, SWEDEN, IRELAND, POLAND</a:t>
            </a:r>
            <a:endParaRPr lang="en-US" sz="16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882896"/>
          <a:ext cx="10972800" cy="12618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Key Issue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Governance Focus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Belgium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Complex social security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Full cost modeling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Austria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Similar to Germany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Works Council consideration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Sweden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Strong union framework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Collective agreement compliance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Ireland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GDPR for commission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Data privacy controls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Poland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Emerging market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Basic compliance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1: EUROPE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SWITZERLAND - Risk Level: MEDIUM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Canton-level variations in employment law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Key Risks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854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26 cantons with different regulations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Social security contribution variations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Currency considerations (CHF vs EUR)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Not EU member - different rules apply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4655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8587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Map canton-specific requirements for each location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1788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centralized administration challenges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cross-border worker implications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CRITICAL/HIGH RISK COUNTRIES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CHINA - Risk Level: HIGH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Anti-bribery enforcement, social security compliance, new Company Law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2024 Company Law (Effective July 1, 2024) - New director protections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Anti-Unfair Competition Law - Commercial bribery provisions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Social Insurance Law - Mandatory contributions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972800" cy="12618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Anti-Bribery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payments to third parties scrutinized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Criminal liability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Social Security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All compensation subject to contributions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28.5% employer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Capital Contribution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New 5-year capital requirement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Compliance deadline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Director Protection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remove directors without compensation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Severance 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Off-Books Payments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Using fapiao for salary = tax evasion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Criminal penalties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3583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75157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 structure resembles illegal kickback arrangement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60716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Social security audit reveals underpayment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Disguised salary payments discovered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Criminal liability + deportation of executives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legitimate business purpose for all commissions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all compensation flows through proper payroll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Register all employees for social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Avoid any "off-books" payment arrangements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192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2024 Company Law compliance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639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Harris Sliwoski, Payslip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3250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HONG KONG - Risk Level: MEDIUM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42569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MPF offsetting abolition effective May 1, 2025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8188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Employment Ordinance - Commission = wages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Mandatory Provident Fund (MPF) - 5% contribution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8521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MPF Offsetting Abolition - Effective May 2025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34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MPF on Commission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All commission subject to 5% MPF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Cost increase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Offset Abolition (2025)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offset severance with MPF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Cash payment 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Wages Definition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explicitly included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Full statutory benefits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418/468 Rule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Continuous employment threshold changing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More employees qualify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22311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6243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Severance calculation doesn't account for commission history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9443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MPF offset used after May 2025 abolition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644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Labour Department audit finds non-compliance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5844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HK$100,000 fine + 1 year imprisonment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90448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2976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Update systems for MPF offset abolition by May 2025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6177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Track pre/post-transition service periods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Include commission in severance base calculations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25780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continuous employment definitions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Sleek HK, CLIC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SINGAPORE - Risk Level: MEDIUM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CPF contributions on all commission payments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854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CPF Act - Mandatory retirement contributions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Employment Act - Basic protections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254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2024/2025 CPF Changes - Increased contribution ceilings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14553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38728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CPF on Commission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All commission attracts CPF contributions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Up to 37% total rate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Ceiling Increases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Monthly ceiling rising to $8,000 by 2026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Higher contributions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OW vs AW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Ordinary vs Additional Wage treatment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Complex calculations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Age-Based Rates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Different rates for 55-70 age groups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Tracking 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47640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68680" y="51572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CPF calculated on all commission payments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4772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Track monthly vs annual ceiling applications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79729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Update for 2024/2025 ceiling changes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61173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Apply correct age-based rates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CPF.gov.sg, Asian Tax Advisory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AUSTRALIA - Risk Level: HIGH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Fair Work Act 2024 amendments, contractor reclassification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Fair Work Act 2009 (amended 2024)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Closing Loopholes Acts - Contractor protections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Section 15AA - New employment definition (Aug 2024)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Contractor Status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New definition may reclassify agents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Back pay + super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Unfair Contract Terms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Contractors can challenge unfair terms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Contract invalidation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Right to Disconnect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Limits after-hours communication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Operational impact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Casual Conversion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New casual definition and conversion rights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Employment status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1572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5504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Commission-only "contractor" deemed employee under new test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58704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Fair Work claim for unpaid entitlements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61904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Superannuation guarantee charge applied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2: ASIA-PACIFIC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Back pay + 11.5% superannuation + penalties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Review all contractor arrangements against new Section 15AA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$175K threshold for contractor opt-out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Update contracts for unfair terms compliance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genuine contractor indicators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9992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Fair Work Commission, Holding Redlich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3924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NEW ZEALAND, THAILAND</a:t>
            </a:r>
            <a:endParaRPr lang="en-US" sz="1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785616"/>
          <a:ext cx="10972800" cy="6583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Key Issue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Governance Focus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New Zealand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Similar to Australia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Fair dealing requirements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Thailand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Basic labor law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Social security compliance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3: AMERICAS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CRITICAL RISK COUNTRIES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BRAZIL - Risk Level: CRITICAL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Commission has salary nature, cannot be reduced once established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Regulatory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CLT (Consolidação das Leis do Trabalho) - Labor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986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Article 457 CLT - Salary definition includes commission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186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Article 466 CLT - Post-termination commission rights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538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Compensation-Specific Risks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31920"/>
          <a:ext cx="10972800" cy="126187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Salary Nature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legally = salary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reduce rates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Rate Lock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Percentage cannot be reduced during employment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Plan design trapped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Post-Termination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Must pay commission on deals closed after termination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Extended liability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13th Salary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affects mandatory 13th month calculation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Higher costs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FGTS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8% deposit on all commission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Ongoing cost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0080" y="53583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What Could Happen Without Governance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575157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 rate reduced mid-employment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60716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Employee files labor court claim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3: AMERICAS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Reduction ruled illegal contract alteration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Potential exposure: Full restoration + penalties + 40% FGTS fine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Design commission rates with long-term view (cannot reduce)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commission structure clearly in contract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Track post-termination commission obligations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992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Include commission in all mandatory calculations (13th, FGTS, vacation)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ICLG Brazil Employment, Rippling Brazil Guide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1246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CANADA - Risk Level: MEDIUM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1056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Provincial variations in employment standards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4988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Key Risks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13 different provincial/territorial employment standards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2120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Quebec has distinct civil law framework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5321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 treatment varies by province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85216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Some provinces require commission in writing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3: AMERICAS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Map province-specific requirements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Ensure commission agreements documented per provincial law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Quebec's unique requirements separately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SOUTH AFRICA - Risk Level: 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Employment Equity Act compliance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Key Risks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455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Pay equity reporting requirements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6557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Commission structures reviewed for discrimination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7856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BBBEE considerations in compensation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1056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49884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Include commission in pay equity analysis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188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non-discriminatory plan design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Consider transformation objectives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4: GDPR/DATA PRIVACY (All EU + UK)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Cross-Border Data Privacy Requirements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3990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Key Issue: Commission data is personal data under GDPR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9222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Affected Countries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All EU members + UK: Italy, France, Germany, Netherlands, Spain, Austria, Sweden, Ireland, Belgium, Poland, United Kingdom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78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</a:rPr>
              <a:t>Compensation-Specific Risks</a:t>
            </a:r>
            <a:endParaRPr lang="en-US" sz="1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71800"/>
          <a:ext cx="10972800" cy="10607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Exposure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Commission as Personal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Individual earnings = personal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GDPR applies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Cross-Border Transfer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US processing of EU commission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Transfer mechanism required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Data Subject Rights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Employees can request commission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Response obligations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Retention Limits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Cannot keep commission data indefinitely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</a:rPr>
                        <a:t>Deletion requirements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419709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#### Governance Recommendation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59028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Document lawful basis for processing commission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91032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Implement Standard Contractual Clauses for US transfers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523036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Create data subject request procedures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5550408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Define retention periods for commission records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" y="5870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Potential Exposure: Up to 4% of global annual revenue for GDPR violations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REGION 4: GDPR/DATA PRIVACY (All EU + UK) (cont.)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Sources: SuperOffice GDPR, HubSpot GDPR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EXECUTIVE SUMMARY SLIDE: TOP 10 OVERSEAS ISSUES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Issues Comp Committee Should Watch</a:t>
            </a:r>
            <a:endParaRPr lang="en-US" sz="2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99032"/>
          <a:ext cx="10972800" cy="20665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Issue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Action Required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Brazil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Commission = salary, cannot reduce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Review all rate change plans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Italy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Agent indemnity calculation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Audit Enasarco compliance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China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Anti-bribery, social security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Review all commission recipients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France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45-50% social charges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Model true cost of variable pay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Germany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Works Council approval needed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Engage Betriebsrat on changes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Hong Kong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MPF offset ends May 2025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Update severance systems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Australia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Contractor reclassification risk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Review agent status Aug 2024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IR35 status determinations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Audit contractor arrangements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EU-Wide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GDPR for commission data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Data transfer mechanisms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8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Singapore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CPF ceiling increases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Update contribution calculations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RECOMMENDED GOVERNANCE ACTIONS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Immediate (0-90 Days)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3990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Brazil Audit - Review any planned commission rate changes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7190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Italy Compliance - Verify Enasarco registration and indemnity tracking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391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China Review - Confirm all commission flows through proper payroll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591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Hong Kong Prep - Plan for MPF offset abolition (May 2025)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Short-Term (90-180 Days)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07238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Germany Engagement - Notify Works Council of global governance initiative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9242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Australia Review - Assess contractor arrangements against new definitions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UK IR35 - Re-evaluate commission-only contractor arrangements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032504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GDPR Framework - Document data processing basis for EU commission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3525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Medium-Term (180-365 Days)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474573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Global Policy Harmonization - Adapt US governance to local requirements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06577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Country-Specific Playbooks - Create compliance guides for each jurisdiction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38581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Centralized Oversight - Consider regional governance committees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5705856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Technology Enablement - Implement multi-jurisdiction tracking capabilities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111"/>
                </a:solidFill>
              </a:rPr>
              <a:t>APPENDIX: Country-Specific Legal References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</a:rPr>
              <a:t>Client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521440" y="656539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10972800" cy="29260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Key Legislation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Regulatory Body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Brazil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CLT (Law 5452/1943)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Ministry of Labor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Italy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Civil Code Art. 1751, AEC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Enasarco, Labor Tribunals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France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Code du Travail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URSSAF, Prud'hommes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Germany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BetrVG (Works Constitution Act)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Labor Courts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Finance Act 2000 (IR35)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HMRC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China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Company Law 2024, Labor Contract Law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MOHRSS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Hong Kong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Employment Ordinance, MPF Ordinance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Labour Department, MPFA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Singapore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CPF Act, Employment Act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CPF Board, MOM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Australia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Fair Work Act 2009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Fair Work Commission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Netherlands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Burgerlijk Wetboek, CAO system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UWV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Spain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Estatuto de los Trabajadores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</a:rPr>
                        <a:t>Ministry of Labor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4198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Document Version: 1.0 Last Updated: December 2024 Confidence Level: HIGH (based on current regulatory research)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813048"/>
            <a:ext cx="10972800" cy="39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Disclaimer: This analysis provides general guidance based on publicly available information. Specific situations require review by local legal counsel in each jurisdiction. Regulations change frequently; verify current requirements before implementation.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282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22222"/>
                </a:solidFill>
              </a:rPr>
              <a:t>Research Sources: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467563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Everstage Sales Compensation Compliance Guide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99567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Korn Ferry Governance Program Guide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531571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Global HR Compliance Guide 2025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5635752"/>
            <a:ext cx="10744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</a:rPr>
              <a:t>Country-specific regulatory sources as cited throughout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HG">
  <a:themeElements>
    <a:clrScheme name="BHG Brand Theme">
      <a:dk1>
        <a:srgbClr val="3B475C"/>
      </a:dk1>
      <a:lt1>
        <a:sysClr val="window" lastClr="FFFFFF"/>
      </a:lt1>
      <a:dk2>
        <a:srgbClr val="728AA8"/>
      </a:dk2>
      <a:lt2>
        <a:srgbClr val="E7E6E6"/>
      </a:lt2>
      <a:accent1>
        <a:srgbClr val="4472C4"/>
      </a:accent1>
      <a:accent2>
        <a:srgbClr val="DD706F"/>
      </a:accent2>
      <a:accent3>
        <a:srgbClr val="ADB9CA"/>
      </a:accent3>
      <a:accent4>
        <a:srgbClr val="B4C6E7"/>
      </a:accent4>
      <a:accent5>
        <a:srgbClr val="5B9BD5"/>
      </a:accent5>
      <a:accent6>
        <a:srgbClr val="0C0C0C"/>
      </a:accent6>
      <a:hlink>
        <a:srgbClr val="FFFFFF"/>
      </a:hlink>
      <a:folHlink>
        <a:srgbClr val="FFFFFF"/>
      </a:folHlink>
    </a:clrScheme>
    <a:fontScheme name="BHG - Proxima Nova">
      <a:majorFont>
        <a:latin typeface="Proxima Nova Bold"/>
        <a:ea typeface=""/>
        <a:cs typeface=""/>
      </a:majorFont>
      <a:minorFont>
        <a:latin typeface="Proxima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HG" id="{765773E8-E7BB-D642-887C-1A96BA64027E}" vid="{65147468-1B5A-BE40-A60A-2918692EA5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BHG</Template>
  <TotalTime>5</TotalTime>
  <Words>4692</Words>
  <Application>Microsoft Macintosh PowerPoint</Application>
  <PresentationFormat>Widescreen</PresentationFormat>
  <Paragraphs>1237</Paragraphs>
  <Slides>44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Proxima Nova</vt:lpstr>
      <vt:lpstr>Proxima Nova Bl</vt:lpstr>
      <vt:lpstr>Proxima Nova Extrabold</vt:lpstr>
      <vt:lpstr>Proxima Nova Thin</vt:lpstr>
      <vt:lpstr>BHG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Blue Horizons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Schein Sales Compensation Governance</dc:title>
  <dc:subject>Henry Schein Sales Compensation Governance</dc:subject>
  <dc:creator>Blue Horizons Group</dc:creator>
  <cp:lastModifiedBy>LeBaron, Todd</cp:lastModifiedBy>
  <cp:revision>2</cp:revision>
  <dcterms:created xsi:type="dcterms:W3CDTF">2025-12-12T06:29:32Z</dcterms:created>
  <dcterms:modified xsi:type="dcterms:W3CDTF">2025-12-15T01:46:05Z</dcterms:modified>
</cp:coreProperties>
</file>